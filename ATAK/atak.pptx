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81" r:id="rId13"/>
    <p:sldId id="268" r:id="rId14"/>
    <p:sldId id="269" r:id="rId15"/>
    <p:sldId id="270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87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34612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3155815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28.06.2026</a:t>
            </a:fld>
            <a:endParaRPr lang="ru-RU"/>
          </a:p>
        </p:txBody>
      </p:sp>
      <p:sp>
        <p:nvSpPr>
          <p:cNvPr id="1562504938" name="Рисунок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328913838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031881487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3433447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818987" name="Рисунок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3826367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2127973978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2847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8237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758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15997-2FFF-5047-953C-D87008C8EFAA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2133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3743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961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CF0B26-4BE4-07B2-A104-B09724678EE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04953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544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198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ACFF2-487F-1118-F135-723EAE820AC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7135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48483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959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1E75EF-9323-B166-E204-C222AB8AC3DA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6218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5021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112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68B66-2838-9390-9B56-CCD3A6B4550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199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20567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56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715571-8DBA-A2E7-5D9C-67D2708F20A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6506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58083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244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EEC3DD-17A9-33ED-8C0D-F1D8F6DC90E6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55156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53902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662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E2015B-5ACB-42A9-A2F8-44DB437A6C7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4024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70553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88107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D2D4F-26B3-75B9-5AC6-5CF014C797E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7911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1207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01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E1991-29F3-0659-4136-F74FCFDE10A1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7911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1207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01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E1991-29F3-0659-4136-F74FCFDE10A1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118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4949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87030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678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E13026-C827-1542-3376-A042AAF32C98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9843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6627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129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B5F2CA-2228-CA7A-F403-97E2A170EB6E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6597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03829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009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53D565-F2CF-82F9-EE55-E178C5ACA3B9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9337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83534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796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5344C7-B977-2C15-59DF-D6ABD4740A1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4621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91307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17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417D26-6072-9909-EFC2-3147D2128DFB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677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75181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359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A2DDB5-8C60-8451-F106-F7EC7E157E68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2099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4046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369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21E38E-6B45-B63F-B143-64B3FD8B561F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67193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83133361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6606805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62955926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997092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4117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04295265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9051692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24978376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8828317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763723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60860664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3743423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54102601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1095994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7118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2979111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94317666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4385833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6601340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810403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67796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76357566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802495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5436274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947937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00241768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5685563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03690947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21629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15644596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045748838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063984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22273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901137491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5076247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8118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41280654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88433365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1367729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37859997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4118972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086127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601813117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</a:p>
        </p:txBody>
      </p:sp>
      <p:sp>
        <p:nvSpPr>
          <p:cNvPr id="30052534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89275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00578668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0327501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9270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097505404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236495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56632793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7311588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84069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796178839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516238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84953057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6466412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3323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671913330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9040983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28.06.2026</a:t>
            </a:fld>
            <a:endParaRPr lang="ru-RU"/>
          </a:p>
        </p:txBody>
      </p:sp>
      <p:sp>
        <p:nvSpPr>
          <p:cNvPr id="109746852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6008439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eg"/><Relationship Id="rId11" Type="http://schemas.openxmlformats.org/officeDocument/2006/relationships/image" Target="../media/image40.jpeg"/><Relationship Id="rId5" Type="http://schemas.openxmlformats.org/officeDocument/2006/relationships/image" Target="../media/image36.jpeg"/><Relationship Id="rId10" Type="http://schemas.openxmlformats.org/officeDocument/2006/relationships/image" Target="../media/image39.jpeg"/><Relationship Id="rId4" Type="http://schemas.openxmlformats.org/officeDocument/2006/relationships/image" Target="../media/image35.jpeg"/><Relationship Id="rId9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12" Type="http://schemas.openxmlformats.org/officeDocument/2006/relationships/image" Target="../media/image5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jpeg"/><Relationship Id="rId11" Type="http://schemas.openxmlformats.org/officeDocument/2006/relationships/image" Target="../media/image49.jpeg"/><Relationship Id="rId5" Type="http://schemas.openxmlformats.org/officeDocument/2006/relationships/image" Target="../media/image43.jpeg"/><Relationship Id="rId10" Type="http://schemas.openxmlformats.org/officeDocument/2006/relationships/image" Target="../media/image48.jpeg"/><Relationship Id="rId4" Type="http://schemas.openxmlformats.org/officeDocument/2006/relationships/image" Target="../media/image42.jpeg"/><Relationship Id="rId9" Type="http://schemas.openxmlformats.org/officeDocument/2006/relationships/image" Target="../media/image4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jpeg"/><Relationship Id="rId4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13" Type="http://schemas.openxmlformats.org/officeDocument/2006/relationships/image" Target="../media/image62.jpeg"/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12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jpeg"/><Relationship Id="rId11" Type="http://schemas.openxmlformats.org/officeDocument/2006/relationships/image" Target="../media/image61.jpeg"/><Relationship Id="rId5" Type="http://schemas.openxmlformats.org/officeDocument/2006/relationships/image" Target="../media/image55.jpeg"/><Relationship Id="rId10" Type="http://schemas.openxmlformats.org/officeDocument/2006/relationships/image" Target="../media/image60.jpeg"/><Relationship Id="rId4" Type="http://schemas.openxmlformats.org/officeDocument/2006/relationships/image" Target="../media/image54.jpeg"/><Relationship Id="rId9" Type="http://schemas.openxmlformats.org/officeDocument/2006/relationships/image" Target="../media/image59.jpeg"/><Relationship Id="rId14" Type="http://schemas.openxmlformats.org/officeDocument/2006/relationships/image" Target="../media/image6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jpeg"/><Relationship Id="rId7" Type="http://schemas.openxmlformats.org/officeDocument/2006/relationships/image" Target="../media/image6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9" Type="http://schemas.openxmlformats.org/officeDocument/2006/relationships/image" Target="../media/image7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jpeg"/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10" Type="http://schemas.openxmlformats.org/officeDocument/2006/relationships/image" Target="../media/image49.jpeg"/><Relationship Id="rId4" Type="http://schemas.openxmlformats.org/officeDocument/2006/relationships/image" Target="../media/image72.jpeg"/><Relationship Id="rId9" Type="http://schemas.openxmlformats.org/officeDocument/2006/relationships/image" Target="../media/image7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78.jpeg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1.jpeg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eg"/><Relationship Id="rId13" Type="http://schemas.openxmlformats.org/officeDocument/2006/relationships/image" Target="../media/image94.jpeg"/><Relationship Id="rId3" Type="http://schemas.openxmlformats.org/officeDocument/2006/relationships/image" Target="../media/image84.jpeg"/><Relationship Id="rId7" Type="http://schemas.openxmlformats.org/officeDocument/2006/relationships/image" Target="../media/image88.jpeg"/><Relationship Id="rId12" Type="http://schemas.openxmlformats.org/officeDocument/2006/relationships/image" Target="../media/image9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.jpeg"/><Relationship Id="rId11" Type="http://schemas.openxmlformats.org/officeDocument/2006/relationships/image" Target="../media/image92.jpeg"/><Relationship Id="rId5" Type="http://schemas.openxmlformats.org/officeDocument/2006/relationships/image" Target="../media/image86.jpeg"/><Relationship Id="rId10" Type="http://schemas.openxmlformats.org/officeDocument/2006/relationships/image" Target="../media/image91.jpeg"/><Relationship Id="rId4" Type="http://schemas.openxmlformats.org/officeDocument/2006/relationships/image" Target="../media/image85.jpeg"/><Relationship Id="rId9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666581" name="Title 1"/>
          <p:cNvSpPr>
            <a:spLocks noGrp="1"/>
          </p:cNvSpPr>
          <p:nvPr>
            <p:ph type="ctrTitle"/>
          </p:nvPr>
        </p:nvSpPr>
        <p:spPr bwMode="auto">
          <a:xfrm>
            <a:off x="346470" y="522941"/>
            <a:ext cx="7676029" cy="541617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6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Практическое руководство по ATAK-</a:t>
            </a:r>
            <a:r>
              <a:rPr lang="en-US" sz="6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CIV</a:t>
            </a:r>
            <a:r>
              <a:rPr lang="ru-RU" sz="6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5.7.0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985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Введение: зачем нам это нужно?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3422390" name="Объект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732437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ATAK — это не просто навигатор вроде Яндекс.Карт. Это инструмент, который позволяет всей команде в реальном времени видеть друг друга на полигоне.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 всегда знаете, где ваши бойцы.</a:t>
            </a: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 можете «на ходу» передавать координаты противника без долгих объяснений по радиосвязи в духе: «Ну, он там, за третьим деревом справа от разрушенного кирпичного здания».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718518-D6C9-5286-4D60-E08090B73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77"/>
          <a:stretch/>
        </p:blipFill>
        <p:spPr>
          <a:xfrm>
            <a:off x="8267700" y="1690688"/>
            <a:ext cx="3086100" cy="4802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58511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1. Первое включение и настройка связи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91037240" name="Текст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ru-RU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!!!! ВАЖНОЕ ПРАВИЛО !!!! </a:t>
            </a:r>
          </a:p>
          <a:p>
            <a:pPr algn="ctr">
              <a:defRPr/>
            </a:pPr>
            <a:r>
              <a:rPr lang="ru-RU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Наш сервер FTS будет запущен ровно за сутки до начала игры. Каждый боец обязан настроить подключение и проверить связь заранее из дома, чтобы на самом полигоне мы не тратили игровое время на технические проблемы.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30311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1. Первое включение и настройка связи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2711590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1. Имя и цвет (Позывной)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583827276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Открываем главное меню (кнопка ☰ в правом верхнем углу).</a:t>
            </a:r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Переходим: </a:t>
            </a:r>
            <a:r>
              <a:rPr lang="ru-RU" sz="20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Settings</a:t>
            </a: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 </a:t>
            </a:r>
            <a:r>
              <a:rPr lang="en-US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Callsign and Device Preference</a:t>
            </a: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</a:t>
            </a:r>
            <a:r>
              <a:rPr lang="en-US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Callsign Preference</a:t>
            </a:r>
            <a:endParaRPr lang="ru-RU" sz="20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графе </a:t>
            </a:r>
            <a:r>
              <a:rPr lang="en-US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My Callsign</a:t>
            </a: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пишем свой страйкбольный позывной.</a:t>
            </a:r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графе </a:t>
            </a:r>
            <a:r>
              <a:rPr lang="en-US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My Team </a:t>
            </a: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единый цвет нашей команды (например, Blue или Green). </a:t>
            </a:r>
            <a:endParaRPr lang="en-US" sz="20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000" dirty="0">
                <a:solidFill>
                  <a:schemeClr val="bg1"/>
                </a:solidFill>
              </a:rPr>
              <a:t>В графе </a:t>
            </a:r>
            <a:r>
              <a:rPr lang="en-US" sz="2000" dirty="0">
                <a:solidFill>
                  <a:schemeClr val="bg1"/>
                </a:solidFill>
              </a:rPr>
              <a:t>My Role </a:t>
            </a:r>
            <a:r>
              <a:rPr lang="ru-RU" sz="2000" dirty="0">
                <a:solidFill>
                  <a:schemeClr val="bg1"/>
                </a:solidFill>
              </a:rPr>
              <a:t>в подразделе </a:t>
            </a:r>
            <a:r>
              <a:rPr lang="en-US" sz="2000" dirty="0">
                <a:solidFill>
                  <a:schemeClr val="bg1"/>
                </a:solidFill>
              </a:rPr>
              <a:t>Default </a:t>
            </a:r>
            <a:r>
              <a:rPr lang="ru-RU" sz="2000" dirty="0">
                <a:solidFill>
                  <a:schemeClr val="bg1"/>
                </a:solidFill>
              </a:rPr>
              <a:t>выбираем соответствующие роли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FF4326-E227-2DE4-23EA-149AEA0F9A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2" y="1681162"/>
            <a:ext cx="2951747" cy="13282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DED2E3-6AAF-1B37-2BDA-DD646F25A6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319" y="1681162"/>
            <a:ext cx="2951747" cy="13282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E8D6CF-440A-0E05-26DA-5252FBD309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4" y="3009447"/>
            <a:ext cx="2951746" cy="132828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559E79-5CD1-110B-5ECC-75EF905D2F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318" y="3009446"/>
            <a:ext cx="2951745" cy="13282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B7F3279-D056-799A-E8F6-AD1F0E75369B}"/>
              </a:ext>
            </a:extLst>
          </p:cNvPr>
          <p:cNvSpPr/>
          <p:nvPr/>
        </p:nvSpPr>
        <p:spPr>
          <a:xfrm>
            <a:off x="8680450" y="1828800"/>
            <a:ext cx="120650" cy="11430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E6E64E4-EF31-F923-DFC2-1EBDC0F4C176}"/>
              </a:ext>
            </a:extLst>
          </p:cNvPr>
          <p:cNvSpPr/>
          <p:nvPr/>
        </p:nvSpPr>
        <p:spPr bwMode="auto">
          <a:xfrm>
            <a:off x="7925593" y="2674143"/>
            <a:ext cx="644525" cy="15478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D09BD4C-539F-1786-6228-E752A9415DD8}"/>
              </a:ext>
            </a:extLst>
          </p:cNvPr>
          <p:cNvSpPr/>
          <p:nvPr/>
        </p:nvSpPr>
        <p:spPr bwMode="auto">
          <a:xfrm>
            <a:off x="9119976" y="1943100"/>
            <a:ext cx="1357524" cy="18573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C40BFDE-1801-58FF-E4BD-5142DEBC1883}"/>
              </a:ext>
            </a:extLst>
          </p:cNvPr>
          <p:cNvSpPr/>
          <p:nvPr/>
        </p:nvSpPr>
        <p:spPr bwMode="auto">
          <a:xfrm>
            <a:off x="6192043" y="3388518"/>
            <a:ext cx="1088232" cy="15478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61E386C-6DBD-F1EF-D0D3-95BBC24263C9}"/>
              </a:ext>
            </a:extLst>
          </p:cNvPr>
          <p:cNvSpPr/>
          <p:nvPr/>
        </p:nvSpPr>
        <p:spPr bwMode="auto">
          <a:xfrm>
            <a:off x="9119976" y="3392204"/>
            <a:ext cx="820949" cy="56067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0120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1. Первое включение и настройка связи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02033732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 lnSpcReduction="2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2. Подключение к серверу FTS (Делаем строго за день до игры)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282132711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20000"/>
          </a:bodyPr>
          <a:lstStyle/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главном меню ☰ выбираем 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Settings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Network Preferences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Network Preferences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Network Preferences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-&gt; 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Manage Server Connection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Нажимаем на 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точки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(+) -&gt;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Add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Заполняем:</a:t>
            </a:r>
          </a:p>
          <a:p>
            <a:pPr marL="540000" marR="0" indent="0"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Name: Название (пишем, например, </a:t>
            </a:r>
            <a:r>
              <a:rPr lang="ru-RU" sz="18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FTS_Team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marL="540000" marR="0" indent="0"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Address: IP-адрес сервера</a:t>
            </a:r>
            <a:endParaRPr lang="en-US" sz="18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540000" marR="0" indent="0">
              <a:buNone/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Ставим галочку «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Advanced Options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» и в 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Streaming Protocol 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ставим 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TCP </a:t>
            </a:r>
            <a:endParaRPr lang="ru-RU" sz="18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540000" marR="0" indent="0"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Port: Номер порта</a:t>
            </a:r>
          </a:p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Проверка связи: Возвращаемся в список серверов. Кружок напротив нашего сервера должен загореться зеленым. Если загорелся — вы в сети, подготовка завершена.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47E9D1-D831-CCC2-A001-9A769D1DA8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958" y="1681163"/>
            <a:ext cx="2557951" cy="11510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18D5F0B-A817-47EF-10CD-6EE2C20C866B}"/>
              </a:ext>
            </a:extLst>
          </p:cNvPr>
          <p:cNvSpPr/>
          <p:nvPr/>
        </p:nvSpPr>
        <p:spPr bwMode="auto">
          <a:xfrm>
            <a:off x="9053043" y="1799705"/>
            <a:ext cx="119532" cy="11958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376DC20-167C-F9F7-FC57-C1F50E773789}"/>
              </a:ext>
            </a:extLst>
          </p:cNvPr>
          <p:cNvSpPr/>
          <p:nvPr/>
        </p:nvSpPr>
        <p:spPr bwMode="auto">
          <a:xfrm>
            <a:off x="8402731" y="2540001"/>
            <a:ext cx="795244" cy="1460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1FEAA0-12C4-B596-970F-82C93FFC1D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909" y="1690688"/>
            <a:ext cx="2536785" cy="114155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1984372-F886-095C-4652-E09C86396590}"/>
              </a:ext>
            </a:extLst>
          </p:cNvPr>
          <p:cNvSpPr/>
          <p:nvPr/>
        </p:nvSpPr>
        <p:spPr bwMode="auto">
          <a:xfrm>
            <a:off x="9450481" y="2093117"/>
            <a:ext cx="1874744" cy="1460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53349B-77AD-EC63-B0A7-D7F9E56C27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958" y="2832242"/>
            <a:ext cx="2557951" cy="11510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CFD3E29-9AF0-9D5C-53B0-F79DBFC370FE}"/>
              </a:ext>
            </a:extLst>
          </p:cNvPr>
          <p:cNvSpPr/>
          <p:nvPr/>
        </p:nvSpPr>
        <p:spPr bwMode="auto">
          <a:xfrm>
            <a:off x="6850156" y="3160713"/>
            <a:ext cx="2419178" cy="1460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6FCBA56-A8E7-E978-E26C-F13AB33B0AA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909" y="2832241"/>
            <a:ext cx="2565360" cy="115441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E1DC78F-BE15-8B33-B552-BB70B25FD8BC}"/>
              </a:ext>
            </a:extLst>
          </p:cNvPr>
          <p:cNvSpPr/>
          <p:nvPr/>
        </p:nvSpPr>
        <p:spPr bwMode="auto">
          <a:xfrm>
            <a:off x="9297909" y="3513138"/>
            <a:ext cx="2386091" cy="1460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C0F859F-8E72-9A72-CF1C-A590C02028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958" y="3983321"/>
            <a:ext cx="2557951" cy="11510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28C2D7B-D5FB-9BC7-BFD7-F9782A7DB8C0}"/>
              </a:ext>
            </a:extLst>
          </p:cNvPr>
          <p:cNvSpPr/>
          <p:nvPr/>
        </p:nvSpPr>
        <p:spPr bwMode="auto">
          <a:xfrm>
            <a:off x="6878731" y="4485835"/>
            <a:ext cx="2358138" cy="1460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E7A8AC1-4B2B-1882-86E5-C39930B371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318" y="3988083"/>
            <a:ext cx="2565360" cy="11510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47672D6-4402-EA0D-5706-BBA4956AFF3A}"/>
              </a:ext>
            </a:extLst>
          </p:cNvPr>
          <p:cNvSpPr/>
          <p:nvPr/>
        </p:nvSpPr>
        <p:spPr bwMode="auto">
          <a:xfrm>
            <a:off x="11601450" y="4108358"/>
            <a:ext cx="113279" cy="9889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CDC0D6A-A66C-E36C-0B36-EE290870220E}"/>
              </a:ext>
            </a:extLst>
          </p:cNvPr>
          <p:cNvSpPr/>
          <p:nvPr/>
        </p:nvSpPr>
        <p:spPr bwMode="auto">
          <a:xfrm>
            <a:off x="11182350" y="4241192"/>
            <a:ext cx="532379" cy="8633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892EE14-C42D-CBDB-3A7A-4B2E5434412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958" y="5151108"/>
            <a:ext cx="2565360" cy="115441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564F6F0-7C51-11EB-EECB-F2F2248BB59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15" t="10326" r="6968" b="81638"/>
          <a:stretch/>
        </p:blipFill>
        <p:spPr bwMode="auto">
          <a:xfrm>
            <a:off x="3162566" y="3160713"/>
            <a:ext cx="99747" cy="184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6574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1. Первое включение и настройка связи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74672471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6" y="1681161"/>
            <a:ext cx="5157784" cy="8239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3. </a:t>
            </a:r>
            <a:r>
              <a:rPr lang="ru-RU" sz="23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Загрузка и установка офлайн-карт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1589264318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6" y="2505073"/>
            <a:ext cx="5157784" cy="36845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⚠️ ЖЕСТКОЕ ПРАВИЛО ДЛЯ ВСЕЙ КОМАНДЫ: Гражданский ATAK-CIV изначально «заточен» под американские и международные серверы. Российские карты он вообще не загружает по умолчанию. Если вы просто установите программу и приедете на полигон — у вас на экране будет пустая серая сетка. Каждый боец обязан залить в телефон ту конкретную карту полигона, которую подготовил и скинул командир. ATAK на игре будет работать строго и только с нашим файлом карты.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66B90-88FF-ECB2-8331-0EA22B55A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749" y="1262059"/>
            <a:ext cx="3942080" cy="492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121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1. Первое включение и настройка связи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11639147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6" y="1681161"/>
            <a:ext cx="5157784" cy="8239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6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3. </a:t>
            </a: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Загрузка и установка офлайн-карт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1190112638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6" y="2505073"/>
            <a:ext cx="5157784" cy="36845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10000"/>
          </a:bodyPr>
          <a:lstStyle/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Скачиваем файл карты в формате 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8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mbtitles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память смартфона.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 верхней панели нажимаем кнопку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☰.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Нажимаем кнопку 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Import (      ).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источник 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Local SD.</a:t>
            </a:r>
          </a:p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открывшемся проводнике файлов переходим в папку с файлом карты и выбираем его.</a:t>
            </a:r>
          </a:p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ATAK 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выдаст запрос о способе обработки выбранного файла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-&gt; выбираем 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Copy/</a:t>
            </a:r>
          </a:p>
          <a:p>
            <a:pPr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окне с выбором способа отображения карты выбираем 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Imagery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endParaRPr lang="en-US" sz="18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18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 sz="1800" b="0" i="0" u="none" strike="noStrike" cap="none" spc="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Итог</a:t>
            </a:r>
            <a:r>
              <a:rPr lang="en-US" sz="1800" b="0" i="0" u="none" strike="noStrike" cap="none" spc="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1800" b="0" i="0" u="none" strike="noStrike" cap="none" spc="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в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Overlay Manager (       ) </a:t>
            </a:r>
            <a:r>
              <a:rPr lang="ru-RU" sz="18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в разделе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Image Overlay </a:t>
            </a:r>
            <a:r>
              <a:rPr lang="ru-RU" sz="18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отобразится импортированная карта</a:t>
            </a:r>
            <a:endParaRPr lang="ru-RU" sz="1800" b="0" i="0" u="none" strike="noStrike" cap="none" spc="0" dirty="0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44545A-4684-BE8C-8D1B-081CEAB039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33" y="1681162"/>
            <a:ext cx="2778117" cy="125015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AACBED-3AC7-9F45-4826-1E636FB724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550" y="1681161"/>
            <a:ext cx="2778117" cy="125015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D449D3-63D1-2082-9CC9-9C26BC0A61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32" y="2931314"/>
            <a:ext cx="2778118" cy="125015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700412-28EE-AA00-E556-ECF6D86525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550" y="2931314"/>
            <a:ext cx="2778117" cy="125015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F99A193-5069-982A-2A9B-CF8996ECB0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31" y="4181467"/>
            <a:ext cx="2778117" cy="125015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3BB619-4DEC-F2A0-FB9E-B29CEF70C57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00" t="56064" r="29571" b="32507"/>
          <a:stretch/>
        </p:blipFill>
        <p:spPr bwMode="auto">
          <a:xfrm>
            <a:off x="3505201" y="3320086"/>
            <a:ext cx="221457" cy="217827"/>
          </a:xfrm>
          <a:prstGeom prst="rect">
            <a:avLst/>
          </a:prstGeom>
          <a:ln>
            <a:noFill/>
          </a:ln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2616EB-3314-517B-53C0-3ABAC713E964}"/>
              </a:ext>
            </a:extLst>
          </p:cNvPr>
          <p:cNvSpPr/>
          <p:nvPr/>
        </p:nvSpPr>
        <p:spPr bwMode="auto">
          <a:xfrm>
            <a:off x="8715921" y="1816374"/>
            <a:ext cx="119532" cy="11958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23C9BB1-A84D-33A3-BFF4-F14118B894B8}"/>
              </a:ext>
            </a:extLst>
          </p:cNvPr>
          <p:cNvSpPr/>
          <p:nvPr/>
        </p:nvSpPr>
        <p:spPr bwMode="auto">
          <a:xfrm>
            <a:off x="8001545" y="2373844"/>
            <a:ext cx="833907" cy="15266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614AF69-7E7B-8842-FFCE-E32DD0510D01}"/>
              </a:ext>
            </a:extLst>
          </p:cNvPr>
          <p:cNvSpPr/>
          <p:nvPr/>
        </p:nvSpPr>
        <p:spPr bwMode="auto">
          <a:xfrm>
            <a:off x="9618414" y="2255972"/>
            <a:ext cx="301873" cy="27053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C6CD952-9BF2-E060-CDCE-96179AAC7CF4}"/>
              </a:ext>
            </a:extLst>
          </p:cNvPr>
          <p:cNvSpPr/>
          <p:nvPr/>
        </p:nvSpPr>
        <p:spPr bwMode="auto">
          <a:xfrm>
            <a:off x="6480720" y="3428999"/>
            <a:ext cx="833907" cy="15266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2E66A64-61F5-5539-EF54-E44858C61EF1}"/>
              </a:ext>
            </a:extLst>
          </p:cNvPr>
          <p:cNvSpPr/>
          <p:nvPr/>
        </p:nvSpPr>
        <p:spPr bwMode="auto">
          <a:xfrm>
            <a:off x="9939337" y="3677769"/>
            <a:ext cx="259557" cy="19778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91EB879-E0EC-4186-07EF-11BC948BFF97}"/>
              </a:ext>
            </a:extLst>
          </p:cNvPr>
          <p:cNvSpPr/>
          <p:nvPr/>
        </p:nvSpPr>
        <p:spPr bwMode="auto">
          <a:xfrm>
            <a:off x="7583489" y="4781272"/>
            <a:ext cx="274636" cy="21697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4700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2. Главный экран и управление (в ландшафтном режиме)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0773846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Левый верхний угол (Навигация)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155626594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450000" marR="0" indent="-450000"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Компас: Показывает на север. Нажатие выравнивает карту строго на север или по направлени</a:t>
            </a:r>
            <a:r>
              <a:rPr lang="ru-RU" sz="2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ю игрока.</a:t>
            </a:r>
            <a:endParaRPr lang="ru-RU" sz="16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0000" marR="0" indent="-450000"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Прицел («Где я»): Одно нажатие возвращает карту на ваше текущее местоположение. </a:t>
            </a:r>
          </a:p>
          <a:p>
            <a:pPr marL="450000" marR="0" indent="-450000">
              <a:defRPr/>
            </a:pPr>
            <a:r>
              <a:rPr lang="ru-RU" sz="20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Масштаб: Кнопки изменения масштаба (быстрее делать привычным жестом двух пальцев).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52658982" name="Рисунок 752658981"/>
          <p:cNvPicPr>
            <a:picLocks noChangeAspect="1"/>
          </p:cNvPicPr>
          <p:nvPr/>
        </p:nvPicPr>
        <p:blipFill rotWithShape="1">
          <a:blip r:embed="rId3"/>
          <a:srcRect r="48156"/>
          <a:stretch/>
        </p:blipFill>
        <p:spPr bwMode="auto">
          <a:xfrm>
            <a:off x="6172197" y="1690686"/>
            <a:ext cx="5183187" cy="4498974"/>
          </a:xfrm>
          <a:prstGeom prst="rect">
            <a:avLst/>
          </a:prstGeom>
        </p:spPr>
      </p:pic>
      <p:pic>
        <p:nvPicPr>
          <p:cNvPr id="124763598" name="Рисунок 124763597"/>
          <p:cNvPicPr>
            <a:picLocks noChangeAspect="1"/>
          </p:cNvPicPr>
          <p:nvPr/>
        </p:nvPicPr>
        <p:blipFill rotWithShape="1">
          <a:blip r:embed="rId3"/>
          <a:srcRect l="4749" t="10591" r="90668" b="78268"/>
          <a:stretch/>
        </p:blipFill>
        <p:spPr bwMode="auto">
          <a:xfrm>
            <a:off x="893980" y="2569537"/>
            <a:ext cx="403870" cy="441879"/>
          </a:xfrm>
          <a:prstGeom prst="rect">
            <a:avLst/>
          </a:prstGeom>
        </p:spPr>
      </p:pic>
      <p:pic>
        <p:nvPicPr>
          <p:cNvPr id="603806582" name="Рисунок 603806581"/>
          <p:cNvPicPr>
            <a:picLocks noChangeAspect="1"/>
          </p:cNvPicPr>
          <p:nvPr/>
        </p:nvPicPr>
        <p:blipFill rotWithShape="1">
          <a:blip r:embed="rId3"/>
          <a:srcRect l="4833" t="22652" r="90615" b="66377"/>
          <a:stretch/>
        </p:blipFill>
        <p:spPr bwMode="auto">
          <a:xfrm>
            <a:off x="890468" y="3553786"/>
            <a:ext cx="407381" cy="441879"/>
          </a:xfrm>
          <a:prstGeom prst="rect">
            <a:avLst/>
          </a:prstGeom>
        </p:spPr>
      </p:pic>
      <p:pic>
        <p:nvPicPr>
          <p:cNvPr id="1005272294" name="Рисунок 1005272293"/>
          <p:cNvPicPr>
            <a:picLocks noChangeAspect="1"/>
          </p:cNvPicPr>
          <p:nvPr/>
        </p:nvPicPr>
        <p:blipFill rotWithShape="1">
          <a:blip r:embed="rId3"/>
          <a:srcRect l="5039" t="35250" r="90938" b="45567"/>
          <a:stretch/>
        </p:blipFill>
        <p:spPr bwMode="auto">
          <a:xfrm>
            <a:off x="895683" y="4416796"/>
            <a:ext cx="402166" cy="862999"/>
          </a:xfrm>
          <a:prstGeom prst="rect">
            <a:avLst/>
          </a:prstGeom>
        </p:spPr>
      </p:pic>
      <p:sp>
        <p:nvSpPr>
          <p:cNvPr id="1486339322" name="Прямоугольник 1486339321"/>
          <p:cNvSpPr/>
          <p:nvPr/>
        </p:nvSpPr>
        <p:spPr bwMode="auto">
          <a:xfrm>
            <a:off x="6669450" y="2157824"/>
            <a:ext cx="447674" cy="199072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562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2. Главный экран и управление (в ландшафтном режиме)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0598320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Верхний ряд (Рабочие инструменты)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178315124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4000"/>
          </a:bodyPr>
          <a:lstStyle/>
          <a:p>
            <a:pPr marL="450000" marR="0" indent="-450000"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Контакты: Список всей команды в сети.</a:t>
            </a:r>
          </a:p>
          <a:p>
            <a:pPr marL="450000" marR="0" indent="-450000">
              <a:defRPr/>
            </a:pPr>
            <a:r>
              <a:rPr lang="en-US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Overlay Manager</a:t>
            </a: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: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Позволяет переключить отображение тегов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маркеров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элементов оверлея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а также настройку способа </a:t>
            </a:r>
            <a:r>
              <a:rPr lang="ru-RU" sz="140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геопозиционирования</a:t>
            </a:r>
            <a:endParaRPr lang="ru-RU" sz="14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0000" marR="0" indent="-450000"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Менеджер данных: </a:t>
            </a: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</a:t>
            </a: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озволяет работать с импортированными данными.</a:t>
            </a:r>
          </a:p>
          <a:p>
            <a:pPr marL="450000" marR="0" indent="-450000"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МАРКЕР: Самая важная кнопка! Нажатие на неё позволяет мгновенно поставить метку на карту.</a:t>
            </a:r>
          </a:p>
          <a:p>
            <a:pPr marL="450000" marR="0" indent="-450000">
              <a:defRPr/>
            </a:pPr>
            <a:endParaRPr lang="ru-RU" sz="14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0000" marR="0" indent="-450000"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Главное меню: Вызов шторки глубоких настроек и параметров сети.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72709256" name="Рисунок 872709255"/>
          <p:cNvPicPr>
            <a:picLocks noChangeAspect="1"/>
          </p:cNvPicPr>
          <p:nvPr/>
        </p:nvPicPr>
        <p:blipFill rotWithShape="1">
          <a:blip r:embed="rId3"/>
          <a:srcRect l="49048" r="-265"/>
          <a:stretch/>
        </p:blipFill>
        <p:spPr bwMode="auto">
          <a:xfrm>
            <a:off x="6172198" y="1614486"/>
            <a:ext cx="5183187" cy="4554083"/>
          </a:xfrm>
          <a:prstGeom prst="rect">
            <a:avLst/>
          </a:prstGeom>
        </p:spPr>
      </p:pic>
      <p:pic>
        <p:nvPicPr>
          <p:cNvPr id="13999090" name="Рисунок 13999089"/>
          <p:cNvPicPr>
            <a:picLocks noChangeAspect="1"/>
          </p:cNvPicPr>
          <p:nvPr/>
        </p:nvPicPr>
        <p:blipFill rotWithShape="1">
          <a:blip r:embed="rId3"/>
          <a:srcRect l="57443" t="11303" r="37850" b="80748"/>
          <a:stretch/>
        </p:blipFill>
        <p:spPr bwMode="auto">
          <a:xfrm>
            <a:off x="839215" y="2505073"/>
            <a:ext cx="363453" cy="276224"/>
          </a:xfrm>
          <a:prstGeom prst="rect">
            <a:avLst/>
          </a:prstGeom>
        </p:spPr>
      </p:pic>
      <p:pic>
        <p:nvPicPr>
          <p:cNvPr id="1416237642" name="Рисунок 1416237641"/>
          <p:cNvPicPr>
            <a:picLocks noChangeAspect="1"/>
          </p:cNvPicPr>
          <p:nvPr/>
        </p:nvPicPr>
        <p:blipFill rotWithShape="1">
          <a:blip r:embed="rId3"/>
          <a:srcRect l="63091" t="10257" r="32295" b="80330"/>
          <a:stretch/>
        </p:blipFill>
        <p:spPr bwMode="auto">
          <a:xfrm>
            <a:off x="839787" y="2833530"/>
            <a:ext cx="362311" cy="332735"/>
          </a:xfrm>
          <a:prstGeom prst="rect">
            <a:avLst/>
          </a:prstGeom>
        </p:spPr>
      </p:pic>
      <p:pic>
        <p:nvPicPr>
          <p:cNvPr id="860582053" name="Рисунок 860582052"/>
          <p:cNvPicPr>
            <a:picLocks noChangeAspect="1"/>
          </p:cNvPicPr>
          <p:nvPr/>
        </p:nvPicPr>
        <p:blipFill rotWithShape="1">
          <a:blip r:embed="rId3"/>
          <a:srcRect l="68361" t="10466" r="26849" b="80121"/>
          <a:stretch/>
        </p:blipFill>
        <p:spPr bwMode="auto">
          <a:xfrm>
            <a:off x="836615" y="3385232"/>
            <a:ext cx="362311" cy="320450"/>
          </a:xfrm>
          <a:prstGeom prst="rect">
            <a:avLst/>
          </a:prstGeom>
        </p:spPr>
      </p:pic>
      <p:pic>
        <p:nvPicPr>
          <p:cNvPr id="343340484" name="Рисунок 343340483"/>
          <p:cNvPicPr>
            <a:picLocks noChangeAspect="1"/>
          </p:cNvPicPr>
          <p:nvPr/>
        </p:nvPicPr>
        <p:blipFill rotWithShape="1">
          <a:blip r:embed="rId3"/>
          <a:srcRect l="74385" t="10466" r="22037" b="80330"/>
          <a:stretch/>
        </p:blipFill>
        <p:spPr bwMode="auto">
          <a:xfrm>
            <a:off x="836614" y="3778977"/>
            <a:ext cx="362311" cy="419518"/>
          </a:xfrm>
          <a:prstGeom prst="rect">
            <a:avLst/>
          </a:prstGeom>
        </p:spPr>
      </p:pic>
      <p:pic>
        <p:nvPicPr>
          <p:cNvPr id="291009481" name="Рисунок 291009480"/>
          <p:cNvPicPr>
            <a:picLocks noChangeAspect="1"/>
          </p:cNvPicPr>
          <p:nvPr/>
        </p:nvPicPr>
        <p:blipFill rotWithShape="1">
          <a:blip r:embed="rId3"/>
          <a:srcRect l="90385" t="10257" r="4908" b="79180"/>
          <a:stretch/>
        </p:blipFill>
        <p:spPr bwMode="auto">
          <a:xfrm>
            <a:off x="836614" y="4406409"/>
            <a:ext cx="371798" cy="375515"/>
          </a:xfrm>
          <a:prstGeom prst="rect">
            <a:avLst/>
          </a:prstGeom>
        </p:spPr>
      </p:pic>
      <p:sp>
        <p:nvSpPr>
          <p:cNvPr id="532528668" name="Прямоугольник 532528667"/>
          <p:cNvSpPr/>
          <p:nvPr/>
        </p:nvSpPr>
        <p:spPr bwMode="auto">
          <a:xfrm>
            <a:off x="7031399" y="2033998"/>
            <a:ext cx="3790949" cy="54292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17769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71164496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1. Библиотека страйкбольных меток</a:t>
            </a:r>
            <a:r>
              <a:rPr lang="en-US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2300" b="1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Кнопка</a:t>
            </a: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</a:t>
            </a:r>
            <a:r>
              <a:rPr lang="en-US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)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1429402898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Обычная точка несет мало информации. При установке маркера (или нажатии на уже созданный) всегда меняйте его Тип (Type) и Значок (</a:t>
            </a:r>
            <a:r>
              <a:rPr lang="ru-RU" sz="11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Icon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) в свойствах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или используйте </a:t>
            </a:r>
            <a:r>
              <a:rPr lang="ru-RU" sz="11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кастомные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иконки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ATAK-CIV 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по умолчанию используются стандартные библиотеки </a:t>
            </a:r>
            <a:r>
              <a:rPr lang="en-US" sz="110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Makres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 Mission, Spot Map, Vehicle Models, Reference Point, 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а так же предустановленные от 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Google, OSM 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и т.д.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Пролистывание между библиотеками маркеров осуществляется </a:t>
            </a:r>
            <a:r>
              <a:rPr lang="ru-RU" sz="11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свайпом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влево (вправо).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НАНЕСЕНИЕ МАРКЕРОВ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Нажимаем</a:t>
            </a:r>
          </a:p>
          <a:p>
            <a:pPr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маркер.</a:t>
            </a:r>
          </a:p>
          <a:p>
            <a:pPr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Нажимаем на карту.</a:t>
            </a: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DDD00F-145A-954A-020F-D6D58D647E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033" y="1350175"/>
            <a:ext cx="3669179" cy="165113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EECCE1-C257-A538-3AE4-635685C5A3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857" y="3190615"/>
            <a:ext cx="3669179" cy="165113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05CDC8-5023-EC3B-E99B-BED13A7B9D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033" y="5031055"/>
            <a:ext cx="3669178" cy="165113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98D64C-75C4-3AF8-5288-2E09D22FB5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385" t="10466" r="22037" b="80330"/>
          <a:stretch/>
        </p:blipFill>
        <p:spPr bwMode="auto">
          <a:xfrm>
            <a:off x="3102091" y="2093119"/>
            <a:ext cx="273570" cy="31676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543D36-66CB-DDA6-2022-C839486895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385" t="10466" r="22037" b="80330"/>
          <a:stretch/>
        </p:blipFill>
        <p:spPr bwMode="auto">
          <a:xfrm>
            <a:off x="1895795" y="4316732"/>
            <a:ext cx="245426" cy="284177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9754FF8-960F-7824-B0CC-15F1CB544275}"/>
              </a:ext>
            </a:extLst>
          </p:cNvPr>
          <p:cNvSpPr/>
          <p:nvPr/>
        </p:nvSpPr>
        <p:spPr bwMode="auto">
          <a:xfrm>
            <a:off x="10411370" y="1521099"/>
            <a:ext cx="142329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EBB66DD-C33A-FC70-A12E-2E8B864812E9}"/>
              </a:ext>
            </a:extLst>
          </p:cNvPr>
          <p:cNvSpPr/>
          <p:nvPr/>
        </p:nvSpPr>
        <p:spPr bwMode="auto">
          <a:xfrm>
            <a:off x="10063707" y="3776084"/>
            <a:ext cx="289968" cy="27680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65A92C1-093D-BC96-8AC9-8C7FDB7951F0}"/>
              </a:ext>
            </a:extLst>
          </p:cNvPr>
          <p:cNvSpPr/>
          <p:nvPr/>
        </p:nvSpPr>
        <p:spPr bwMode="auto">
          <a:xfrm>
            <a:off x="8934994" y="5731338"/>
            <a:ext cx="142329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702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19135727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2. Изменение, перенос и удаление меток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669481878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Чтобы подписать: 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Выбрать маркер -&gt; нажать 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 -&gt; ввести название в поле рядом с иконкой (например: «Дот», «Пулемет»).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Чтобы перенести: </a:t>
            </a:r>
          </a:p>
          <a:p>
            <a:pPr marR="0">
              <a:buFont typeface="Arial"/>
              <a:buAutoNum type="arabicParenR"/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Точечный перенос – нажать на маркер</a:t>
            </a: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выбрать инструмент        и  с помощью указателя поправить маркер.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97E2CD-5393-B667-2BC0-D62411F25B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1484237"/>
            <a:ext cx="2782578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399416-AC16-29FA-0207-5D1F7915F1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310" y="1484237"/>
            <a:ext cx="2782578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F37017-26BE-2C4D-99C3-E6AD51C1B8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732" y="2736397"/>
            <a:ext cx="2782578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92C115-FED8-00B8-3E39-B87FCD0C2E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732" y="3988557"/>
            <a:ext cx="2782577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1F547E-2095-C8F8-665B-A97008CB53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466" y="3988557"/>
            <a:ext cx="2782576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CD51A3B-3456-1D84-9C40-91A9DF69952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735" y="5240717"/>
            <a:ext cx="2782574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0EBBFC9-6AE8-6E1E-91A3-A62989EC9BCC}"/>
              </a:ext>
            </a:extLst>
          </p:cNvPr>
          <p:cNvSpPr/>
          <p:nvPr/>
        </p:nvSpPr>
        <p:spPr bwMode="auto">
          <a:xfrm>
            <a:off x="6836320" y="2156702"/>
            <a:ext cx="142329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697F73-AA54-02DF-8423-ED09889DC7D1}"/>
              </a:ext>
            </a:extLst>
          </p:cNvPr>
          <p:cNvSpPr/>
          <p:nvPr/>
        </p:nvSpPr>
        <p:spPr bwMode="auto">
          <a:xfrm>
            <a:off x="6978649" y="2316766"/>
            <a:ext cx="142329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364AA9D2-A1AE-45AC-2905-91526DCCB611}"/>
              </a:ext>
            </a:extLst>
          </p:cNvPr>
          <p:cNvSpPr/>
          <p:nvPr/>
        </p:nvSpPr>
        <p:spPr bwMode="auto">
          <a:xfrm>
            <a:off x="7808236" y="1755774"/>
            <a:ext cx="300714" cy="889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843D068-3873-A779-DB39-DF9542DACDDA}"/>
              </a:ext>
            </a:extLst>
          </p:cNvPr>
          <p:cNvSpPr/>
          <p:nvPr/>
        </p:nvSpPr>
        <p:spPr bwMode="auto">
          <a:xfrm>
            <a:off x="9391649" y="2076670"/>
            <a:ext cx="406401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A2345B49-3AC9-161A-D9DB-7095DF4727D0}"/>
              </a:ext>
            </a:extLst>
          </p:cNvPr>
          <p:cNvSpPr/>
          <p:nvPr/>
        </p:nvSpPr>
        <p:spPr bwMode="auto">
          <a:xfrm>
            <a:off x="6616699" y="3321201"/>
            <a:ext cx="279401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BA54C1D-EC2B-7A23-4F2D-ADD70818070B}"/>
              </a:ext>
            </a:extLst>
          </p:cNvPr>
          <p:cNvSpPr/>
          <p:nvPr/>
        </p:nvSpPr>
        <p:spPr bwMode="auto">
          <a:xfrm>
            <a:off x="7398021" y="3548087"/>
            <a:ext cx="780779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E6D9E79-B8B4-A3BE-9914-48326833E7F3}"/>
              </a:ext>
            </a:extLst>
          </p:cNvPr>
          <p:cNvSpPr/>
          <p:nvPr/>
        </p:nvSpPr>
        <p:spPr bwMode="auto">
          <a:xfrm>
            <a:off x="6836320" y="4661020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D104FBF-B35C-C2F0-EA54-812E59EBBC11}"/>
              </a:ext>
            </a:extLst>
          </p:cNvPr>
          <p:cNvSpPr/>
          <p:nvPr/>
        </p:nvSpPr>
        <p:spPr bwMode="auto">
          <a:xfrm>
            <a:off x="6660493" y="4720215"/>
            <a:ext cx="135596" cy="11848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5986F2B3-0F8C-88FD-F3AD-0E4902F8B56A}"/>
              </a:ext>
            </a:extLst>
          </p:cNvPr>
          <p:cNvSpPr/>
          <p:nvPr/>
        </p:nvSpPr>
        <p:spPr bwMode="auto">
          <a:xfrm>
            <a:off x="6841896" y="5913180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85B55A9-F70A-B9AC-6164-4D2213341DE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4" t="60064" r="72729" b="33739"/>
          <a:stretch/>
        </p:blipFill>
        <p:spPr bwMode="auto">
          <a:xfrm>
            <a:off x="3495527" y="4338388"/>
            <a:ext cx="233421" cy="276249"/>
          </a:xfrm>
          <a:prstGeom prst="rect">
            <a:avLst/>
          </a:prstGeom>
          <a:ln>
            <a:noFill/>
          </a:ln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67461405-E0B9-B086-6146-ED73870B5F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4" t="68997" r="59925" b="21685"/>
          <a:stretch/>
        </p:blipFill>
        <p:spPr bwMode="auto">
          <a:xfrm>
            <a:off x="3933781" y="2864500"/>
            <a:ext cx="313479" cy="28445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702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19135727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2. Изменение, перенос и удаление меток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669481878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R="0">
              <a:buFont typeface="Arial"/>
              <a:buAutoNum type="arabicParenR"/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По координатам – нажать на маркер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-&gt; удерживать         </a:t>
            </a:r>
            <a:r>
              <a:rPr lang="en-US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нажать на       -&gt; в </a:t>
            </a:r>
            <a:r>
              <a:rPr lang="ru-RU" sz="1800" b="0" i="0" u="none" strike="noStrike" cap="none" spc="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появившемя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окне ввести географические координаты.</a:t>
            </a:r>
          </a:p>
          <a:p>
            <a:pPr marR="0">
              <a:buFont typeface="Arial"/>
              <a:buAutoNum type="arabicParenR"/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 живую – удерживаем маркер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-&gt;</a:t>
            </a:r>
            <a:r>
              <a:rPr lang="ru-RU" sz="18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перенести в нужное место на карте.</a:t>
            </a:r>
            <a:endParaRPr lang="ru-RU" sz="18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marR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Чтобы удалить: 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Если противник уничтожен или задача выполнена, нажмите на метку -&gt; выберите значок Корзины.</a:t>
            </a:r>
            <a:endParaRPr sz="44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5B4F450-0554-6BF7-7B7C-046891A224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011" y="1690693"/>
            <a:ext cx="2782574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1A0DA20-D9DE-888E-6D2A-82EC80D69B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33" y="2942852"/>
            <a:ext cx="2782573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018B668-017D-3835-5002-E4689B5CFA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005" y="2942851"/>
            <a:ext cx="2782573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AE0F9FE-333D-0DC1-A930-1FDB39D0EA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33" y="4195007"/>
            <a:ext cx="2782572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94B8031-18BD-C6C5-C705-08A1F967FE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006" y="4195006"/>
            <a:ext cx="2782574" cy="12521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39B20A2-3E8D-E10B-A437-EAFB0FCAD28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4427" y="1690688"/>
            <a:ext cx="2782577" cy="125216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FD96C3-4318-B76A-1C55-D99F5BF7F9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4" t="60064" r="72729" b="33739"/>
          <a:stretch/>
        </p:blipFill>
        <p:spPr bwMode="auto">
          <a:xfrm>
            <a:off x="2615042" y="2783292"/>
            <a:ext cx="233421" cy="276249"/>
          </a:xfrm>
          <a:prstGeom prst="rect">
            <a:avLst/>
          </a:prstGeom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0AA607-AC75-64D1-2DC0-3A9D426F6B3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5" t="71980" r="65473" b="18290"/>
          <a:stretch/>
        </p:blipFill>
        <p:spPr bwMode="auto">
          <a:xfrm>
            <a:off x="4294914" y="2783292"/>
            <a:ext cx="198103" cy="266724"/>
          </a:xfrm>
          <a:prstGeom prst="rect">
            <a:avLst/>
          </a:prstGeom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973124-14AB-A9AF-D527-3F21D9B0E66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8" t="70714" r="64959" b="19398"/>
          <a:stretch/>
        </p:blipFill>
        <p:spPr bwMode="auto">
          <a:xfrm>
            <a:off x="2731752" y="5064211"/>
            <a:ext cx="233420" cy="236452"/>
          </a:xfrm>
          <a:prstGeom prst="rect">
            <a:avLst/>
          </a:prstGeom>
          <a:ln>
            <a:noFill/>
          </a:ln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F8DDD7D-BF53-3A50-151E-0D0776A1C59A}"/>
              </a:ext>
            </a:extLst>
          </p:cNvPr>
          <p:cNvSpPr/>
          <p:nvPr/>
        </p:nvSpPr>
        <p:spPr bwMode="auto">
          <a:xfrm>
            <a:off x="6810940" y="2402304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5B807CF-82E5-1610-ECAF-EECD031FD696}"/>
              </a:ext>
            </a:extLst>
          </p:cNvPr>
          <p:cNvSpPr/>
          <p:nvPr/>
        </p:nvSpPr>
        <p:spPr bwMode="auto">
          <a:xfrm>
            <a:off x="9790376" y="2562368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E1D2B3F-EB48-76E5-30E5-81F95E24FD6B}"/>
              </a:ext>
            </a:extLst>
          </p:cNvPr>
          <p:cNvSpPr/>
          <p:nvPr/>
        </p:nvSpPr>
        <p:spPr bwMode="auto">
          <a:xfrm>
            <a:off x="9728765" y="3568930"/>
            <a:ext cx="320110" cy="29187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5CE1FC3-C4F1-981A-ED5F-3EDC338ADD41}"/>
              </a:ext>
            </a:extLst>
          </p:cNvPr>
          <p:cNvSpPr/>
          <p:nvPr/>
        </p:nvSpPr>
        <p:spPr bwMode="auto">
          <a:xfrm>
            <a:off x="7103040" y="4580991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E393F0D-2972-D519-E3F7-0486FCC27D0B}"/>
              </a:ext>
            </a:extLst>
          </p:cNvPr>
          <p:cNvSpPr/>
          <p:nvPr/>
        </p:nvSpPr>
        <p:spPr bwMode="auto">
          <a:xfrm>
            <a:off x="9799398" y="5064211"/>
            <a:ext cx="191813" cy="160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3675412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2275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93465860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 lnSpcReduction="2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3. </a:t>
            </a:r>
            <a:r>
              <a:rPr lang="ru-RU" sz="23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Отображение метки для всех пользователей внутри одной сети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1034099879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Способ А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cs typeface="Arial"/>
              </a:rPr>
              <a:t>После добавления метки</a:t>
            </a:r>
            <a:r>
              <a:rPr lang="en-US" sz="11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cs typeface="Arial"/>
              </a:rPr>
              <a:t> внизу  в панели меток будет отмечена последняя  нанесенная метка.</a:t>
            </a:r>
          </a:p>
          <a:p>
            <a:pPr marL="0" marR="0" indent="0">
              <a:buFont typeface="Arial"/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cs typeface="Arial"/>
              </a:rPr>
              <a:t>Жмет кнопку           и кнопку              </a:t>
            </a:r>
          </a:p>
          <a:p>
            <a:pPr marL="0" indent="0"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Способ Б</a:t>
            </a:r>
          </a:p>
          <a:p>
            <a:pPr marL="0" indent="0"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маркер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жмем кнопку               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в панели жмем           и кнопку         </a:t>
            </a: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Способ В</a:t>
            </a:r>
          </a:p>
          <a:p>
            <a:pPr marL="0" indent="0"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маркер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жмем кнопку            (удержанием)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жмем                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marR="0" indent="0">
              <a:buFont typeface="Arial"/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и кнопку                     </a:t>
            </a:r>
            <a:endParaRPr lang="ru-RU"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39D334-930F-0A88-D1A4-D3CA4EDA31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A14753-E3DF-17B0-AADA-0C8D943F1B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0" t="90101" r="13171" b="951"/>
          <a:stretch/>
        </p:blipFill>
        <p:spPr bwMode="auto">
          <a:xfrm>
            <a:off x="1860550" y="3189942"/>
            <a:ext cx="253999" cy="239058"/>
          </a:xfrm>
          <a:prstGeom prst="rect">
            <a:avLst/>
          </a:prstGeom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812843-5B82-F795-9A4F-DD93EB4E07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42" t="93214" r="5237" b="744"/>
          <a:stretch/>
        </p:blipFill>
        <p:spPr>
          <a:xfrm>
            <a:off x="2741613" y="3189943"/>
            <a:ext cx="1522888" cy="2390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5D6E5E-BB01-171C-2639-8A2C6B55CB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067" y="1690688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207261-ADE2-CDB6-8719-73163FA455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2606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ABA83F6-1D8F-D6C2-0BFA-9A23A32338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509682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094C2D6-071D-8102-C0CC-F2FBCE055F7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6144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3C26BEC-0878-5FFF-8A55-561FB973A3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066" y="282606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F43F8F3-224C-738B-24DF-2336160A47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9065" y="396144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1F99759-7960-97B9-9752-C61A66EBAEC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9064" y="5096829"/>
            <a:ext cx="2523067" cy="113538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6EC1776-029B-20DF-4E2F-7927F2331723}"/>
              </a:ext>
            </a:extLst>
          </p:cNvPr>
          <p:cNvSpPr/>
          <p:nvPr/>
        </p:nvSpPr>
        <p:spPr bwMode="auto">
          <a:xfrm>
            <a:off x="7736452" y="2721768"/>
            <a:ext cx="759848" cy="1042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9515C09-32F6-E52E-69BC-928692E1B2E3}"/>
              </a:ext>
            </a:extLst>
          </p:cNvPr>
          <p:cNvSpPr/>
          <p:nvPr/>
        </p:nvSpPr>
        <p:spPr bwMode="auto">
          <a:xfrm>
            <a:off x="10587038" y="2762250"/>
            <a:ext cx="454554" cy="6381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0062A9F-D5C7-951C-A998-DDCB9357FB25}"/>
              </a:ext>
            </a:extLst>
          </p:cNvPr>
          <p:cNvSpPr/>
          <p:nvPr/>
        </p:nvSpPr>
        <p:spPr bwMode="auto">
          <a:xfrm>
            <a:off x="6976604" y="3607593"/>
            <a:ext cx="100471" cy="1042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D320533-02E9-FB97-8AEE-6285CC2C704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7" t="68538" r="61217" b="21115"/>
          <a:stretch/>
        </p:blipFill>
        <p:spPr bwMode="auto">
          <a:xfrm>
            <a:off x="3175000" y="3750608"/>
            <a:ext cx="250825" cy="250825"/>
          </a:xfrm>
          <a:prstGeom prst="rect">
            <a:avLst/>
          </a:prstGeom>
          <a:ln>
            <a:noFill/>
          </a:ln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79FFCA8-15E1-EE29-94E7-7D4768FA4C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0" t="90101" r="13171" b="951"/>
          <a:stretch/>
        </p:blipFill>
        <p:spPr bwMode="auto">
          <a:xfrm>
            <a:off x="4752975" y="3739495"/>
            <a:ext cx="253999" cy="239058"/>
          </a:xfrm>
          <a:prstGeom prst="rect">
            <a:avLst/>
          </a:prstGeom>
          <a:ln>
            <a:noFill/>
          </a:ln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AE59BC5-270F-E127-E891-0241CEACBE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42" t="93214" r="5237" b="744"/>
          <a:stretch/>
        </p:blipFill>
        <p:spPr bwMode="auto">
          <a:xfrm>
            <a:off x="905985" y="3994943"/>
            <a:ext cx="1522888" cy="239058"/>
          </a:xfrm>
          <a:prstGeom prst="rect">
            <a:avLst/>
          </a:prstGeom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8CEEA02-2017-BF65-9F8C-F9C5AB455297}"/>
              </a:ext>
            </a:extLst>
          </p:cNvPr>
          <p:cNvSpPr/>
          <p:nvPr/>
        </p:nvSpPr>
        <p:spPr bwMode="auto">
          <a:xfrm>
            <a:off x="10190470" y="3873322"/>
            <a:ext cx="239405" cy="881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4348782-2EF5-A829-3B61-5BAC85CCDD9E}"/>
              </a:ext>
            </a:extLst>
          </p:cNvPr>
          <p:cNvSpPr/>
          <p:nvPr/>
        </p:nvSpPr>
        <p:spPr bwMode="auto">
          <a:xfrm>
            <a:off x="8039100" y="5017135"/>
            <a:ext cx="481539" cy="796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57B79BC-B820-0C12-016C-EB7B4939E45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7" t="68538" r="61217" b="21115"/>
          <a:stretch/>
        </p:blipFill>
        <p:spPr bwMode="auto">
          <a:xfrm>
            <a:off x="3167856" y="4558506"/>
            <a:ext cx="250825" cy="250825"/>
          </a:xfrm>
          <a:prstGeom prst="rect">
            <a:avLst/>
          </a:prstGeom>
          <a:ln>
            <a:noFill/>
          </a:ln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270EDA1-0C72-5489-D14C-B18C5FADA1F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30" t="58573" r="58946" b="33457"/>
          <a:stretch/>
        </p:blipFill>
        <p:spPr bwMode="auto">
          <a:xfrm>
            <a:off x="4879974" y="4564389"/>
            <a:ext cx="308257" cy="23905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ED818B7-A847-0140-96C9-F6EDA3E0C6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42" t="93214" r="5237" b="744"/>
          <a:stretch/>
        </p:blipFill>
        <p:spPr bwMode="auto">
          <a:xfrm>
            <a:off x="1534635" y="4823082"/>
            <a:ext cx="1522888" cy="239058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EEFF1A9-1CB1-B1D7-0183-E1959C1EC12A}"/>
              </a:ext>
            </a:extLst>
          </p:cNvPr>
          <p:cNvSpPr/>
          <p:nvPr/>
        </p:nvSpPr>
        <p:spPr bwMode="auto">
          <a:xfrm>
            <a:off x="9483725" y="4763600"/>
            <a:ext cx="104775" cy="796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10F9BEEE-35AA-3A66-21C8-7CD3506778F0}"/>
              </a:ext>
            </a:extLst>
          </p:cNvPr>
          <p:cNvSpPr/>
          <p:nvPr/>
        </p:nvSpPr>
        <p:spPr bwMode="auto">
          <a:xfrm>
            <a:off x="7026839" y="5776278"/>
            <a:ext cx="93099" cy="796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9C9D4D0D-959E-391C-5C62-EC72FA6335D9}"/>
              </a:ext>
            </a:extLst>
          </p:cNvPr>
          <p:cNvSpPr/>
          <p:nvPr/>
        </p:nvSpPr>
        <p:spPr bwMode="auto">
          <a:xfrm>
            <a:off x="10555817" y="6161086"/>
            <a:ext cx="481539" cy="796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8865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60259062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1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4. Адресное управление: Распределение бойцов по точкам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564404923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Чтобы не создавать кашу на экранах, командир может выдавать персональные задачи конкретным людям:</a:t>
            </a:r>
          </a:p>
          <a:p>
            <a:pPr marR="0">
              <a:buFontTx/>
              <a:buChar char="-"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метку.</a:t>
            </a: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Выполняем действия как в п.3 ч.3 Инструкции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однако вместо кнопки</a:t>
            </a:r>
          </a:p>
          <a:p>
            <a:pPr marL="0" marR="0" indent="0">
              <a:buNone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                                          выбираем пользователей и жмем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84B5B2-4E63-8634-CB5C-D1140838BD1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821112"/>
            <a:ext cx="5584319" cy="2512943"/>
          </a:xfr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3A76B8-393F-680F-4BA8-E78783B5EF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42" t="93214" r="5237" b="744"/>
          <a:stretch/>
        </p:blipFill>
        <p:spPr bwMode="auto">
          <a:xfrm>
            <a:off x="1169988" y="3429000"/>
            <a:ext cx="1522888" cy="239058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03ECF7FC-5738-CE82-D581-29112CD8E6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93" t="93030" r="23103" b="267"/>
          <a:stretch/>
        </p:blipFill>
        <p:spPr bwMode="auto">
          <a:xfrm>
            <a:off x="5013147" y="3429001"/>
            <a:ext cx="1410960" cy="239058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5B37A58-F082-1E67-8B52-2B907E13B9EF}"/>
              </a:ext>
            </a:extLst>
          </p:cNvPr>
          <p:cNvSpPr/>
          <p:nvPr/>
        </p:nvSpPr>
        <p:spPr bwMode="auto">
          <a:xfrm>
            <a:off x="4137660" y="6142319"/>
            <a:ext cx="1036320" cy="20039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2227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93279332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87500" lnSpcReduction="11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3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5. Как показать направление движения для всей команды сразу и отдельным игрокам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1149617445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0" marR="0" indent="0">
              <a:buFont typeface="Arial"/>
              <a:buNone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Если нужно быстро задать вектор атаки, маневра или отхода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используем инструмент 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Range Tool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:</a:t>
            </a:r>
            <a:endParaRPr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Открываем главное меню (кнопка ☰ 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инструмент 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Range Tool.</a:t>
            </a: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правом меню выбираем 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R&amp;B line       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или 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Dynamic R&amp;B line                    </a:t>
            </a: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начало и конец точки.</a:t>
            </a:r>
          </a:p>
          <a:p>
            <a:pPr marR="0">
              <a:buFontTx/>
              <a:buChar char="-"/>
              <a:defRPr/>
            </a:pP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созданную линию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жмем кнопку            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в параметрах задаем цвет и вид линии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правим название и жмем кнопку           .</a:t>
            </a:r>
          </a:p>
          <a:p>
            <a:pPr marR="0">
              <a:buFontTx/>
              <a:buChar char="-"/>
              <a:defRPr/>
            </a:pP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Как и с простыми метками</a:t>
            </a:r>
            <a:r>
              <a:rPr lang="en-US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11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либо жмем                                (со всеми) или выбираем отдельных игроков и жмем кнопку                  .</a:t>
            </a:r>
          </a:p>
          <a:p>
            <a:pPr marR="0">
              <a:buFontTx/>
              <a:buChar char="-"/>
              <a:defRPr/>
            </a:pPr>
            <a:endParaRPr lang="en-US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R="0">
              <a:buFontTx/>
              <a:buChar char="-"/>
              <a:defRPr/>
            </a:pP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marR="0" indent="0">
              <a:buFont typeface="Arial"/>
              <a:buNone/>
              <a:defRPr/>
            </a:pPr>
            <a:endParaRPr lang="ru-RU" sz="11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2AA7F3-41CE-9F5F-8292-19B54E98B7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2945695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50D600E-328A-F20F-2172-E883245B89AE}"/>
              </a:ext>
            </a:extLst>
          </p:cNvPr>
          <p:cNvSpPr/>
          <p:nvPr/>
        </p:nvSpPr>
        <p:spPr bwMode="auto">
          <a:xfrm>
            <a:off x="8737212" y="1812131"/>
            <a:ext cx="175807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BC5EF5B-ADC4-AB1D-2A6C-EFF94D37B04E}"/>
              </a:ext>
            </a:extLst>
          </p:cNvPr>
          <p:cNvSpPr/>
          <p:nvPr/>
        </p:nvSpPr>
        <p:spPr bwMode="auto">
          <a:xfrm>
            <a:off x="8003787" y="2464593"/>
            <a:ext cx="909232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70F257-65C8-B479-7961-97A628F0FF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695" y="1681163"/>
            <a:ext cx="2966862" cy="133508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EF4654-D138-0FA0-FF05-BD795AA35E9D}"/>
              </a:ext>
            </a:extLst>
          </p:cNvPr>
          <p:cNvSpPr/>
          <p:nvPr/>
        </p:nvSpPr>
        <p:spPr bwMode="auto">
          <a:xfrm>
            <a:off x="11282768" y="1984864"/>
            <a:ext cx="271463" cy="12016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579AF6-6968-3B3F-11DA-A0D23AD8B4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71" t="23305" r="15434" b="68490"/>
          <a:stretch/>
        </p:blipFill>
        <p:spPr bwMode="auto">
          <a:xfrm>
            <a:off x="3251200" y="3429000"/>
            <a:ext cx="228600" cy="18777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52E1D00-FAC6-251D-8895-C847EB03E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25" t="23305" r="19804" b="68490"/>
          <a:stretch/>
        </p:blipFill>
        <p:spPr bwMode="auto">
          <a:xfrm>
            <a:off x="4805010" y="3429000"/>
            <a:ext cx="196850" cy="1877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34F8A0-4773-B584-2DC5-D6F43E214E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25776"/>
            <a:ext cx="2945695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9E98E66-CBE5-DF1F-7D9C-74BC6556D183}"/>
              </a:ext>
            </a:extLst>
          </p:cNvPr>
          <p:cNvSpPr/>
          <p:nvPr/>
        </p:nvSpPr>
        <p:spPr bwMode="auto">
          <a:xfrm>
            <a:off x="7029062" y="3645693"/>
            <a:ext cx="143263" cy="15795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27071A2-B461-6004-CCEF-B32994E3D27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278" y="3025775"/>
            <a:ext cx="2945695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82451D8-2BD5-9E44-6243-255D91FB173E}"/>
              </a:ext>
            </a:extLst>
          </p:cNvPr>
          <p:cNvSpPr/>
          <p:nvPr/>
        </p:nvSpPr>
        <p:spPr bwMode="auto">
          <a:xfrm rot="19677619">
            <a:off x="9971626" y="3493385"/>
            <a:ext cx="615447" cy="200081"/>
          </a:xfrm>
          <a:prstGeom prst="roundRect">
            <a:avLst>
              <a:gd name="adj" fmla="val 11601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5168CDB-6709-A8EC-3D99-096BC25F0E4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4360863"/>
            <a:ext cx="2966862" cy="133508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0FCBD3D-B7D1-FA54-4172-E07812EB6E6C}"/>
              </a:ext>
            </a:extLst>
          </p:cNvPr>
          <p:cNvSpPr/>
          <p:nvPr/>
        </p:nvSpPr>
        <p:spPr bwMode="auto">
          <a:xfrm>
            <a:off x="7643424" y="5260180"/>
            <a:ext cx="143263" cy="15795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9D8E1B6-7B9B-AF41-087B-5E80A83AE1F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7" t="68538" r="61217" b="21115"/>
          <a:stretch/>
        </p:blipFill>
        <p:spPr bwMode="auto">
          <a:xfrm>
            <a:off x="3815557" y="3926408"/>
            <a:ext cx="199232" cy="199232"/>
          </a:xfrm>
          <a:prstGeom prst="rect">
            <a:avLst/>
          </a:prstGeom>
          <a:ln>
            <a:noFill/>
          </a:ln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BCD4F6D-F9DC-62B1-9AE0-01500AB5BD0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863" y="4365625"/>
            <a:ext cx="2945696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7966A92-958C-EE79-D2B7-0B03A0F118B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0" t="90101" r="13171" b="951"/>
          <a:stretch/>
        </p:blipFill>
        <p:spPr bwMode="auto">
          <a:xfrm>
            <a:off x="3788173" y="4125640"/>
            <a:ext cx="253999" cy="239058"/>
          </a:xfrm>
          <a:prstGeom prst="rect">
            <a:avLst/>
          </a:prstGeom>
          <a:ln>
            <a:noFill/>
          </a:ln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6FA2DDF-7A28-360E-7CB2-3C53CA27EC8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42" t="93214" r="5237" b="744"/>
          <a:stretch/>
        </p:blipFill>
        <p:spPr bwMode="auto">
          <a:xfrm>
            <a:off x="3517504" y="4368119"/>
            <a:ext cx="994569" cy="156124"/>
          </a:xfrm>
          <a:prstGeom prst="rect">
            <a:avLst/>
          </a:prstGeom>
        </p:spPr>
      </p:pic>
      <p:pic>
        <p:nvPicPr>
          <p:cNvPr id="26" name="Объект 4">
            <a:extLst>
              <a:ext uri="{FF2B5EF4-FFF2-40B4-BE49-F238E27FC236}">
                <a16:creationId xmlns:a16="http://schemas.microsoft.com/office/drawing/2014/main" id="{5CEE89B5-A336-8C0A-5F38-0ED2FF01F37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93" t="93030" r="23103" b="267"/>
          <a:stretch/>
        </p:blipFill>
        <p:spPr bwMode="auto">
          <a:xfrm>
            <a:off x="3843864" y="4524243"/>
            <a:ext cx="921470" cy="156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9549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96284946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2500" lnSpcReduction="1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1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r>
              <a:rPr lang="ru-RU" sz="21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. Сложный маркерный маршрут для всей команды сразу или отдельным игрокам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1978876214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57500" lnSpcReduction="20000"/>
          </a:bodyPr>
          <a:lstStyle/>
          <a:p>
            <a:pPr marL="0" indent="0">
              <a:buNone/>
              <a:defRPr/>
            </a:pPr>
            <a:r>
              <a:rPr lang="ru-RU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Если необходимо показать извилистый</a:t>
            </a:r>
            <a:r>
              <a:rPr lang="en-US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скрытный маршрут в обход построек</a:t>
            </a:r>
            <a:r>
              <a:rPr lang="en-US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необходимо</a:t>
            </a:r>
            <a:r>
              <a:rPr lang="en-US" sz="2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Открываем главное меню (кнопка ☰ ).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Выбрать инструмент </a:t>
            </a:r>
            <a:r>
              <a:rPr lang="en-US" dirty="0">
                <a:solidFill>
                  <a:schemeClr val="bg1"/>
                </a:solidFill>
              </a:rPr>
              <a:t>Routes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Нажать кнопку 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Выбрать тип маршрута (</a:t>
            </a:r>
            <a:r>
              <a:rPr lang="en-US" dirty="0">
                <a:solidFill>
                  <a:schemeClr val="bg1"/>
                </a:solidFill>
              </a:rPr>
              <a:t>walking) </a:t>
            </a:r>
            <a:r>
              <a:rPr lang="ru-RU" dirty="0">
                <a:solidFill>
                  <a:schemeClr val="bg1"/>
                </a:solidFill>
              </a:rPr>
              <a:t>и нажать кнопку </a:t>
            </a:r>
            <a:r>
              <a:rPr lang="en-US" dirty="0">
                <a:solidFill>
                  <a:schemeClr val="bg1"/>
                </a:solidFill>
              </a:rPr>
              <a:t>Manual Entry.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Далее рисуем маршрут путем добавления точек поворота или при помощи инструмента </a:t>
            </a:r>
            <a:r>
              <a:rPr lang="en-US" dirty="0">
                <a:solidFill>
                  <a:schemeClr val="bg1"/>
                </a:solidFill>
              </a:rPr>
              <a:t>Draw </a:t>
            </a:r>
            <a:r>
              <a:rPr lang="ru-RU" dirty="0">
                <a:solidFill>
                  <a:schemeClr val="bg1"/>
                </a:solidFill>
              </a:rPr>
              <a:t>ведем пальцем по маршруту.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После жмем </a:t>
            </a:r>
            <a:r>
              <a:rPr lang="en-US" dirty="0">
                <a:solidFill>
                  <a:schemeClr val="bg1"/>
                </a:solidFill>
              </a:rPr>
              <a:t>END.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bg1"/>
                </a:solidFill>
              </a:rPr>
              <a:t>Способ отправки маршрута ничем не отличается от способа отправки маркеров и направлений (</a:t>
            </a:r>
            <a:r>
              <a:rPr lang="en-US" dirty="0">
                <a:solidFill>
                  <a:schemeClr val="bg1"/>
                </a:solidFill>
              </a:rPr>
              <a:t>SEND)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FD59B6-0FDF-8BF9-E6F8-B5352808F8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8" y="1690688"/>
            <a:ext cx="2945696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F13680-0ABA-6469-1575-00901EBB32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09" t="58743" r="29940" b="28323"/>
          <a:stretch/>
        </p:blipFill>
        <p:spPr bwMode="auto">
          <a:xfrm>
            <a:off x="3930650" y="3219450"/>
            <a:ext cx="273050" cy="3276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49BB8C-A5A8-EAF5-A3CE-701E3C9BA9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24" y="1690688"/>
            <a:ext cx="2945696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A79687-96C5-5552-64B4-44BE6BA232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29" t="22222" r="23417" b="70370"/>
          <a:stretch/>
        </p:blipFill>
        <p:spPr>
          <a:xfrm>
            <a:off x="2578100" y="3547110"/>
            <a:ext cx="275673" cy="2740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D5227D-0EE5-B7A8-9A04-9442851FC8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3016251"/>
            <a:ext cx="2945696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C1BEB3-4187-D608-FD59-82D06175BD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24" y="3016252"/>
            <a:ext cx="2945696" cy="132556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3696423-CE8A-894E-0F9B-96402E36A7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8" y="4341814"/>
            <a:ext cx="2945696" cy="132556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9FAD1F8-07D3-55A2-5F63-4F2866CF5C4F}"/>
              </a:ext>
            </a:extLst>
          </p:cNvPr>
          <p:cNvSpPr/>
          <p:nvPr/>
        </p:nvSpPr>
        <p:spPr bwMode="auto">
          <a:xfrm>
            <a:off x="8103800" y="2464593"/>
            <a:ext cx="909232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E3D711E-3D0D-3B81-36CF-67F9667E5935}"/>
              </a:ext>
            </a:extLst>
          </p:cNvPr>
          <p:cNvSpPr/>
          <p:nvPr/>
        </p:nvSpPr>
        <p:spPr bwMode="auto">
          <a:xfrm>
            <a:off x="11274321" y="1945970"/>
            <a:ext cx="155781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0ED29BC-02F6-2F28-8D67-BE297BAE1F94}"/>
              </a:ext>
            </a:extLst>
          </p:cNvPr>
          <p:cNvSpPr/>
          <p:nvPr/>
        </p:nvSpPr>
        <p:spPr bwMode="auto">
          <a:xfrm>
            <a:off x="6826655" y="3635561"/>
            <a:ext cx="1674408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4EA701D-E712-F696-1E5A-B0D50A706358}"/>
              </a:ext>
            </a:extLst>
          </p:cNvPr>
          <p:cNvSpPr/>
          <p:nvPr/>
        </p:nvSpPr>
        <p:spPr bwMode="auto">
          <a:xfrm>
            <a:off x="6826654" y="3860005"/>
            <a:ext cx="760009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44F75B3-9BF8-34C6-80E8-B29B5FB1C18B}"/>
              </a:ext>
            </a:extLst>
          </p:cNvPr>
          <p:cNvSpPr/>
          <p:nvPr/>
        </p:nvSpPr>
        <p:spPr bwMode="auto">
          <a:xfrm>
            <a:off x="10004830" y="3821113"/>
            <a:ext cx="177396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EF1AAEC-D882-751B-78D5-93F58CF684CD}"/>
              </a:ext>
            </a:extLst>
          </p:cNvPr>
          <p:cNvSpPr/>
          <p:nvPr/>
        </p:nvSpPr>
        <p:spPr bwMode="auto">
          <a:xfrm>
            <a:off x="10271530" y="3542785"/>
            <a:ext cx="177396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EE11B53-236A-7C03-21C4-C51A1BC7A1C7}"/>
              </a:ext>
            </a:extLst>
          </p:cNvPr>
          <p:cNvSpPr/>
          <p:nvPr/>
        </p:nvSpPr>
        <p:spPr bwMode="auto">
          <a:xfrm>
            <a:off x="10554105" y="3464298"/>
            <a:ext cx="177396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B9F90C2-3985-1243-9B9C-BD7A8C3F39D9}"/>
              </a:ext>
            </a:extLst>
          </p:cNvPr>
          <p:cNvSpPr/>
          <p:nvPr/>
        </p:nvSpPr>
        <p:spPr bwMode="auto">
          <a:xfrm>
            <a:off x="10859991" y="3464298"/>
            <a:ext cx="177396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A22D26F3-5A5C-0BF1-4F17-E531B2997D74}"/>
              </a:ext>
            </a:extLst>
          </p:cNvPr>
          <p:cNvSpPr/>
          <p:nvPr/>
        </p:nvSpPr>
        <p:spPr bwMode="auto">
          <a:xfrm>
            <a:off x="11384207" y="3289860"/>
            <a:ext cx="576018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B9EC7CB-3A59-1A37-2639-B67E00582D60}"/>
              </a:ext>
            </a:extLst>
          </p:cNvPr>
          <p:cNvSpPr/>
          <p:nvPr/>
        </p:nvSpPr>
        <p:spPr bwMode="auto">
          <a:xfrm>
            <a:off x="8015102" y="4615144"/>
            <a:ext cx="997930" cy="76330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B323690-7978-8735-89A2-C6ADD1503037}"/>
              </a:ext>
            </a:extLst>
          </p:cNvPr>
          <p:cNvSpPr/>
          <p:nvPr/>
        </p:nvSpPr>
        <p:spPr bwMode="auto">
          <a:xfrm>
            <a:off x="8052205" y="5507038"/>
            <a:ext cx="177396" cy="18555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488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55736105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1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Расчет расстояний и инструмент «Круг угрозы»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421166476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Расчет расстояний</a:t>
            </a:r>
          </a:p>
          <a:p>
            <a:pPr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Выбираем себя или иную метку.</a:t>
            </a:r>
          </a:p>
          <a:p>
            <a:pPr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 круговом меню жмем</a:t>
            </a:r>
          </a:p>
          <a:p>
            <a:pPr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Указываем конечную точку</a:t>
            </a:r>
            <a:endParaRPr lang="ru-RU" sz="1400" b="0" i="0" u="none" strike="noStrike" cap="none" spc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 sz="1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Круг угрозы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В инструменте «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Range Tools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»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выбираем 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R&amp;B Circle        ,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 ставим на карте сначала центр окружности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 вторым нажатием определяем радиус окружности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При необходимости диаметр можно поправить через 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BFA0F0-6FFD-004E-2586-7A376B3666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1690688"/>
            <a:ext cx="2924529" cy="13160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3A60BC-B13C-2853-0D87-7B74170312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104" y="1690688"/>
            <a:ext cx="2924529" cy="13160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30B6CA-A422-F523-E87F-4577DA5614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3026855"/>
            <a:ext cx="2924529" cy="13160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CE7D59-4F1D-DAB3-B31C-984A8718B8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104" y="3006726"/>
            <a:ext cx="2924529" cy="13160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287043-7E82-E7C9-28BE-9234CE9863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4342893"/>
            <a:ext cx="3036888" cy="13666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4E733A1-335F-CB92-E626-7ABC89ADB8AD}"/>
              </a:ext>
            </a:extLst>
          </p:cNvPr>
          <p:cNvSpPr/>
          <p:nvPr/>
        </p:nvSpPr>
        <p:spPr bwMode="auto">
          <a:xfrm>
            <a:off x="7385428" y="2437880"/>
            <a:ext cx="139322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E3108B1-DDA6-58FD-153D-E4DB6F10A9F1}"/>
              </a:ext>
            </a:extLst>
          </p:cNvPr>
          <p:cNvSpPr/>
          <p:nvPr/>
        </p:nvSpPr>
        <p:spPr bwMode="auto">
          <a:xfrm>
            <a:off x="7455089" y="2214319"/>
            <a:ext cx="139322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24D3B85-5B4F-2B18-79D8-4CC626FC4138}"/>
              </a:ext>
            </a:extLst>
          </p:cNvPr>
          <p:cNvSpPr/>
          <p:nvPr/>
        </p:nvSpPr>
        <p:spPr bwMode="auto">
          <a:xfrm>
            <a:off x="11016040" y="2643705"/>
            <a:ext cx="139322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A731DEC-C78D-A9EA-8A3B-77794AB3AC09}"/>
              </a:ext>
            </a:extLst>
          </p:cNvPr>
          <p:cNvSpPr/>
          <p:nvPr/>
        </p:nvSpPr>
        <p:spPr bwMode="auto">
          <a:xfrm>
            <a:off x="7912477" y="3795530"/>
            <a:ext cx="580647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5732DDE-A909-C0E0-7B10-C043718B4A7B}"/>
              </a:ext>
            </a:extLst>
          </p:cNvPr>
          <p:cNvSpPr/>
          <p:nvPr/>
        </p:nvSpPr>
        <p:spPr bwMode="auto">
          <a:xfrm>
            <a:off x="11016040" y="3294612"/>
            <a:ext cx="139322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6B88BD5-416C-CFB3-B998-491654BB6BB3}"/>
              </a:ext>
            </a:extLst>
          </p:cNvPr>
          <p:cNvSpPr/>
          <p:nvPr/>
        </p:nvSpPr>
        <p:spPr bwMode="auto">
          <a:xfrm>
            <a:off x="9379328" y="3677454"/>
            <a:ext cx="139322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D7282B8-DD5D-C17C-4063-2C2B6AAF6F8E}"/>
              </a:ext>
            </a:extLst>
          </p:cNvPr>
          <p:cNvSpPr/>
          <p:nvPr/>
        </p:nvSpPr>
        <p:spPr bwMode="auto">
          <a:xfrm>
            <a:off x="7147302" y="4891805"/>
            <a:ext cx="713997" cy="55332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D337D2A-8CD1-E025-2329-CEA37DF8622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0130" r="45564" b="49816"/>
          <a:stretch/>
        </p:blipFill>
        <p:spPr bwMode="auto">
          <a:xfrm>
            <a:off x="3120671" y="3160455"/>
            <a:ext cx="196410" cy="20031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1E38543-21A6-A61B-2FE9-C934D3C014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33" t="22424" r="24203" b="68341"/>
          <a:stretch/>
        </p:blipFill>
        <p:spPr bwMode="auto">
          <a:xfrm>
            <a:off x="5246369" y="3998162"/>
            <a:ext cx="293982" cy="3246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80AE744-14CB-76B2-95D7-5E037E9EB98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7" t="68538" r="61217" b="21115"/>
          <a:stretch/>
        </p:blipFill>
        <p:spPr bwMode="auto">
          <a:xfrm>
            <a:off x="5393360" y="4761970"/>
            <a:ext cx="250825" cy="250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51092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 Нанесение меток на карту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49408429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1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Создание тактических зон (Инструмент         )</a:t>
            </a:r>
            <a:endParaRPr sz="2600" dirty="0">
              <a:solidFill>
                <a:schemeClr val="bg1"/>
              </a:solidFill>
            </a:endParaRPr>
          </a:p>
        </p:txBody>
      </p:sp>
      <p:sp>
        <p:nvSpPr>
          <p:cNvPr id="338653144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Для создания тактических зон используется инструмент 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Drawing Tools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</a:rPr>
              <a:t>Открываем главное меню (кнопка ☰ ).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</a:rPr>
              <a:t>Выбираем инструмент 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Drawing Tools</a:t>
            </a: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         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lang="ru-RU" sz="1800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Выбираем форму и рисуем зону.</a:t>
            </a: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В разделе настроек можно выбрать цвет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 заполнение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 прозрачность зоны.</a:t>
            </a:r>
            <a:endParaRPr lang="en-US" sz="1800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dirty="0">
                <a:solidFill>
                  <a:schemeClr val="bg1"/>
                </a:solidFill>
                <a:latin typeface="Arial"/>
                <a:cs typeface="Arial"/>
              </a:rPr>
              <a:t>Публикация – через кнопку </a:t>
            </a:r>
            <a:r>
              <a:rPr lang="en-US" sz="1800" dirty="0">
                <a:solidFill>
                  <a:schemeClr val="bg1"/>
                </a:solidFill>
                <a:latin typeface="Arial"/>
                <a:cs typeface="Arial"/>
              </a:rPr>
              <a:t>SEND.</a:t>
            </a:r>
            <a:endParaRPr lang="ru-RU" sz="1800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8AAF33-36F6-EA5B-9FD7-C4B6107E06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1600200"/>
            <a:ext cx="2553333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DE09CD-8729-E4F4-F5D9-FE980D5646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88" t="50000" r="29312" b="38750"/>
          <a:stretch/>
        </p:blipFill>
        <p:spPr>
          <a:xfrm>
            <a:off x="2712720" y="2070216"/>
            <a:ext cx="472440" cy="4348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205018-1BB3-45DA-D8AF-297A447FF9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88" t="50000" r="29312" b="38750"/>
          <a:stretch/>
        </p:blipFill>
        <p:spPr bwMode="auto">
          <a:xfrm>
            <a:off x="5113020" y="3429000"/>
            <a:ext cx="472440" cy="4348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97DB91-FDE5-D611-288C-1DA3E2EEFB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761" y="1600200"/>
            <a:ext cx="2553334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47A16F-F442-9278-6502-8825CDBBDA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2749201"/>
            <a:ext cx="2553333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D79A1F4-98B8-B4B2-5434-D5B6BB160C9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760" y="2749200"/>
            <a:ext cx="2553333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A04D87-25ED-B979-9F90-45DEAC81FA8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3905673"/>
            <a:ext cx="2553333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F509EB-17B4-0A9D-6588-C48C594D3E2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47760" y="3905673"/>
            <a:ext cx="2553333" cy="11490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954A569-D95D-D3E2-E0E2-19792546099D}"/>
              </a:ext>
            </a:extLst>
          </p:cNvPr>
          <p:cNvSpPr/>
          <p:nvPr/>
        </p:nvSpPr>
        <p:spPr bwMode="auto">
          <a:xfrm>
            <a:off x="7870507" y="2177760"/>
            <a:ext cx="580647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A597A9E-6DD0-02C4-97F7-9589E08E8274}"/>
              </a:ext>
            </a:extLst>
          </p:cNvPr>
          <p:cNvSpPr/>
          <p:nvPr/>
        </p:nvSpPr>
        <p:spPr bwMode="auto">
          <a:xfrm>
            <a:off x="10233402" y="1854215"/>
            <a:ext cx="828298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B5DAB5A-A0EE-84E8-FECA-515B633EF4BB}"/>
              </a:ext>
            </a:extLst>
          </p:cNvPr>
          <p:cNvSpPr/>
          <p:nvPr/>
        </p:nvSpPr>
        <p:spPr bwMode="auto">
          <a:xfrm>
            <a:off x="7180769" y="3189312"/>
            <a:ext cx="580647" cy="52543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55C975-05BF-34CE-8325-A3AC04FF564D}"/>
              </a:ext>
            </a:extLst>
          </p:cNvPr>
          <p:cNvSpPr/>
          <p:nvPr/>
        </p:nvSpPr>
        <p:spPr bwMode="auto">
          <a:xfrm>
            <a:off x="10066904" y="3512042"/>
            <a:ext cx="140721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9970538-409A-7E2C-BFBD-19BA3B96916A}"/>
              </a:ext>
            </a:extLst>
          </p:cNvPr>
          <p:cNvSpPr/>
          <p:nvPr/>
        </p:nvSpPr>
        <p:spPr bwMode="auto">
          <a:xfrm>
            <a:off x="7715627" y="4154745"/>
            <a:ext cx="983873" cy="93477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4A608CC-F80B-DC9D-14D1-5B6299215652}"/>
              </a:ext>
            </a:extLst>
          </p:cNvPr>
          <p:cNvSpPr/>
          <p:nvPr/>
        </p:nvSpPr>
        <p:spPr bwMode="auto">
          <a:xfrm>
            <a:off x="10345161" y="4937527"/>
            <a:ext cx="196852" cy="11880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56961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Часть 3.1. Пакетная работа с маркерами и иными знаками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82575573" name="Текст 2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72500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ru-RU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Для пакетной работы с маркерами</a:t>
            </a:r>
            <a:r>
              <a:rPr lang="en-US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маршрутами и картами (скрытие</a:t>
            </a:r>
            <a:r>
              <a:rPr lang="en-US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удаление и т.д.) используется инструмент </a:t>
            </a:r>
            <a:r>
              <a:rPr lang="en-US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Overlay Manager</a:t>
            </a:r>
            <a:r>
              <a:rPr lang="ru-RU" sz="2400" b="1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10746825" name="Объект 3"/>
          <p:cNvSpPr>
            <a:spLocks noGrp="1"/>
          </p:cNvSpPr>
          <p:nvPr>
            <p:ph sz="half" idx="2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Вариант А «Скрытие меток»</a:t>
            </a:r>
            <a:b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С помощью кнопки           скрываем либо категорию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 либо отдельные метки</a:t>
            </a:r>
          </a:p>
          <a:p>
            <a:pPr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Вариант Б «Удаление меток»</a:t>
            </a:r>
            <a:b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Жмем           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 жмем 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Delete, 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выбираем все метки или те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 что не нужны.</a:t>
            </a:r>
          </a:p>
          <a:p>
            <a:pPr>
              <a:defRPr/>
            </a:pPr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Жмем </a:t>
            </a: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Delete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0B08C0-65F7-0A9B-8965-882B4F634B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1690688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668B83-B6CF-B2BA-FD37-D25A6E4148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2879933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23B4EE-C30E-61C2-FC01-C348DC3D36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194" y="1690688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E8B539-E7A8-A0A3-1806-4C6A0B9DB7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194" y="2879933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EAF2AC4-5B4F-AD82-80B0-A59FA383A4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4069178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4BAF5F3-688A-FB23-A45A-ADCC73B839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194" y="4069177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75326E4-E923-645F-E0C2-FF65103A5DF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5258422"/>
            <a:ext cx="2642767" cy="1189246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8032836-F7CB-43D8-393B-F11671E6E50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193" y="5258421"/>
            <a:ext cx="2642767" cy="118924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D7B7F28-C3B1-B613-8FAB-1451DD65F10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23" t="34849" r="45682" b="59344"/>
          <a:stretch/>
        </p:blipFill>
        <p:spPr bwMode="auto">
          <a:xfrm>
            <a:off x="2845594" y="2745065"/>
            <a:ext cx="314325" cy="178733"/>
          </a:xfrm>
          <a:prstGeom prst="rect">
            <a:avLst/>
          </a:prstGeom>
          <a:ln>
            <a:noFill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DC4F760-7836-6377-AABD-7C3F290A88E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40" t="21377" r="8904" b="69279"/>
          <a:stretch/>
        </p:blipFill>
        <p:spPr bwMode="auto">
          <a:xfrm>
            <a:off x="1843087" y="3395180"/>
            <a:ext cx="252413" cy="214170"/>
          </a:xfrm>
          <a:prstGeom prst="rect">
            <a:avLst/>
          </a:prstGeom>
          <a:ln>
            <a:noFill/>
          </a:ln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230E504-AD0A-FF6B-7B56-601A464BD628}"/>
              </a:ext>
            </a:extLst>
          </p:cNvPr>
          <p:cNvSpPr/>
          <p:nvPr/>
        </p:nvSpPr>
        <p:spPr bwMode="auto">
          <a:xfrm>
            <a:off x="7853838" y="1806285"/>
            <a:ext cx="132875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A54E72C-697C-67F7-BE98-4F31CFE3D64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5" t="9519" r="32280" b="79141"/>
          <a:stretch/>
        </p:blipFill>
        <p:spPr bwMode="auto">
          <a:xfrm>
            <a:off x="1907380" y="2265084"/>
            <a:ext cx="158429" cy="17255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8E2446D-5333-956A-B075-3D77C034DBC9}"/>
              </a:ext>
            </a:extLst>
          </p:cNvPr>
          <p:cNvSpPr/>
          <p:nvPr/>
        </p:nvSpPr>
        <p:spPr bwMode="auto">
          <a:xfrm>
            <a:off x="10158576" y="2083727"/>
            <a:ext cx="132875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D7C30F8-A4A9-BFD4-812F-7938C99191EB}"/>
              </a:ext>
            </a:extLst>
          </p:cNvPr>
          <p:cNvSpPr/>
          <p:nvPr/>
        </p:nvSpPr>
        <p:spPr bwMode="auto">
          <a:xfrm>
            <a:off x="7515810" y="3253231"/>
            <a:ext cx="126415" cy="43929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CC48404-E254-E089-F727-472817697BA6}"/>
              </a:ext>
            </a:extLst>
          </p:cNvPr>
          <p:cNvSpPr/>
          <p:nvPr/>
        </p:nvSpPr>
        <p:spPr bwMode="auto">
          <a:xfrm>
            <a:off x="11120601" y="3118843"/>
            <a:ext cx="132875" cy="1343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646927-6DFD-F990-5584-136E3C6142C6}"/>
              </a:ext>
            </a:extLst>
          </p:cNvPr>
          <p:cNvSpPr/>
          <p:nvPr/>
        </p:nvSpPr>
        <p:spPr bwMode="auto">
          <a:xfrm>
            <a:off x="7515810" y="4627771"/>
            <a:ext cx="307390" cy="25399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5793B357-C506-013D-57C8-7536CABCAE01}"/>
              </a:ext>
            </a:extLst>
          </p:cNvPr>
          <p:cNvSpPr/>
          <p:nvPr/>
        </p:nvSpPr>
        <p:spPr bwMode="auto">
          <a:xfrm>
            <a:off x="7508348" y="5599046"/>
            <a:ext cx="133877" cy="59061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94589A43-E043-0B84-7A03-5B399BD58860}"/>
              </a:ext>
            </a:extLst>
          </p:cNvPr>
          <p:cNvSpPr/>
          <p:nvPr/>
        </p:nvSpPr>
        <p:spPr bwMode="auto">
          <a:xfrm>
            <a:off x="10158575" y="5977146"/>
            <a:ext cx="741199" cy="25399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1458</TotalTime>
  <Words>1395</Words>
  <Application>Microsoft Office PowerPoint</Application>
  <PresentationFormat>Широкоэкранный</PresentationFormat>
  <Paragraphs>151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Практическое руководство по ATAK-CIV 5.7.0</vt:lpstr>
      <vt:lpstr>Введение: зачем нам это нужно?</vt:lpstr>
      <vt:lpstr>Часть 1. Первое включение и настройка связи</vt:lpstr>
      <vt:lpstr>Часть 1. Первое включение и настройка связи</vt:lpstr>
      <vt:lpstr>Часть 1. Первое включение и настройка связи</vt:lpstr>
      <vt:lpstr>Часть 1. Первое включение и настройка связи</vt:lpstr>
      <vt:lpstr>Часть 1. Первое включение и настройка связи</vt:lpstr>
      <vt:lpstr>Часть 2. Главный экран и управление (в ландшафтном режиме)</vt:lpstr>
      <vt:lpstr>Часть 2. Главный экран и управление (в ландшафтном режиме)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 Нанесение меток на карту</vt:lpstr>
      <vt:lpstr>Часть 3.1. Пакетная работа с маркерами и иными знаками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Никита Виноградов</cp:lastModifiedBy>
  <cp:revision>31</cp:revision>
  <dcterms:modified xsi:type="dcterms:W3CDTF">2026-06-28T07:18:14Z</dcterms:modified>
</cp:coreProperties>
</file>